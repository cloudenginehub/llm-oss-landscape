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b0e04e5f144ae" /><Relationship Type="http://schemas.openxmlformats.org/officeDocument/2006/relationships/extended-properties" Target="/docProps/app.xml" Id="R2ba83053daf64b09" /><Relationship Type="http://schemas.openxmlformats.org/officeDocument/2006/relationships/officeDocument" Target="/ppt/presentation.xml" Id="Rc1a32666776f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ca524914534efa"/>
  </p:sldMasterIdLst>
  <p:notesMasterIdLst>
    <p:notesMasterId xmlns:r="http://schemas.openxmlformats.org/officeDocument/2006/relationships" r:id="Rfe28db2cc65549c1"/>
  </p:notesMasterIdLst>
  <p:sldIdLst>
    <p:sldId xmlns:r="http://schemas.openxmlformats.org/officeDocument/2006/relationships" id="256" r:id="R3393f9a98d694d84"/>
    <p:sldId xmlns:r="http://schemas.openxmlformats.org/officeDocument/2006/relationships" id="257" r:id="Re99d2cb7a0204fd6"/>
    <p:sldId xmlns:r="http://schemas.openxmlformats.org/officeDocument/2006/relationships" id="258" r:id="R674d5f7862d541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5223889a964ae2" /><Relationship Type="http://schemas.openxmlformats.org/officeDocument/2006/relationships/slideMaster" Target="/ppt/slideMasters/slideMaster1.xml" Id="R78ca524914534efa" /><Relationship Type="http://schemas.openxmlformats.org/officeDocument/2006/relationships/notesMaster" Target="/ppt/notesMasters/notesMaster1.xml" Id="Rfe28db2cc65549c1" /><Relationship Type="http://schemas.openxmlformats.org/officeDocument/2006/relationships/presProps" Target="/ppt/presProps.xml" Id="R873568c710824467" /><Relationship Type="http://schemas.openxmlformats.org/officeDocument/2006/relationships/tableStyles" Target="/ppt/tableStyles.xml" Id="R55794030c83a4f7e" /><Relationship Type="http://schemas.openxmlformats.org/officeDocument/2006/relationships/slide" Target="/ppt/slides/slide1.xml" Id="R3393f9a98d694d84" /><Relationship Type="http://schemas.openxmlformats.org/officeDocument/2006/relationships/slide" Target="/ppt/slides/slide2.xml" Id="Re99d2cb7a0204fd6" /><Relationship Type="http://schemas.openxmlformats.org/officeDocument/2006/relationships/slide" Target="/ppt/slides/slide3.xml" Id="R674d5f7862d5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022c96a53e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6eb916e72b4f93" /><Relationship Type="http://schemas.openxmlformats.org/officeDocument/2006/relationships/notesMaster" Target="/ppt/notesMasters/notesMaster1.xml" Id="Rd5d68133d1f948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cd85cc64bc49f0" /><Relationship Type="http://schemas.openxmlformats.org/officeDocument/2006/relationships/notesMaster" Target="/ppt/notesMasters/notesMaster1.xml" Id="R7814bc3582f0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66f5f2d504cd3" /><Relationship Type="http://schemas.openxmlformats.org/officeDocument/2006/relationships/notesMaster" Target="/ppt/notesMasters/notesMaster1.xml" Id="R8f19ebe2a56141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这一页先看结构，不逐个念项目。</a:t>
            </a:r>
          </a:p>
          <a:p xmlns:a="http://schemas.openxmlformats.org/drawingml/2006/main">
            <a:r>
              <a:t>经典 awesome 主要帮人发现信息。后面的项目开始交付可复制文件、安装命令和工作方法。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outputs/awesome-agentic-landscape-260729/data/editorial_shortlist.csv</a:t>
            </a:r>
          </a:p>
          <a:p xmlns:a="http://schemas.openxmlformats.org/drawingml/2006/main">
            <a:r>
              <a:t>- https://github.com/sindresorhus/awesome</a:t>
            </a:r>
          </a:p>
          <a:p xmlns:a="http://schemas.openxmlformats.org/drawingml/2006/main">
            <a:r>
              <a:t>- https://github.com/punkpeye/awesome-mcp-servers</a:t>
            </a:r>
          </a:p>
          <a:p xmlns:a="http://schemas.openxmlformats.org/drawingml/2006/main">
            <a:r>
              <a:t>- https://github.com/VoltAgent/awesome-design-md</a:t>
            </a:r>
          </a:p>
          <a:p xmlns:a="http://schemas.openxmlformats.org/drawingml/2006/main">
            <a:r>
              <a:t>- https://github.com/freestylefly/awesome-gpt-image-2</a:t>
            </a:r>
          </a:p>
          <a:p xmlns:a="http://schemas.openxmlformats.org/drawingml/2006/main">
            <a:r>
              <a:t>- https://github.com/vercel-labs/skills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https://github.com/obra/superpowers</a:t>
            </a:r>
          </a:p>
          <a:p xmlns:a="http://schemas.openxmlformats.org/drawingml/2006/main">
            <a:r>
              <a:t>- https://github.com/github/spec-kit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这里的关键区别是交付物。</a:t>
            </a:r>
          </a:p>
          <a:p xmlns:a="http://schemas.openxmlformats.org/drawingml/2006/main">
            <a:r>
              <a:t>前两个项目仍然以浏览和发现为主。DESIGN.md 和生图 skill 已经可以直接放进 agent 的工作上下文。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outputs/awesome-agentic-landscape-260729/data/editorial_shortlist.csv</a:t>
            </a:r>
          </a:p>
          <a:p xmlns:a="http://schemas.openxmlformats.org/drawingml/2006/main">
            <a:r>
              <a:t>- https://github.com/sindresorhus/awesome</a:t>
            </a:r>
          </a:p>
          <a:p xmlns:a="http://schemas.openxmlformats.org/drawingml/2006/main">
            <a:r>
              <a:t>- https://github.com/punkpeye/awesome-mcp-servers</a:t>
            </a:r>
          </a:p>
          <a:p xmlns:a="http://schemas.openxmlformats.org/drawingml/2006/main">
            <a:r>
              <a:t>- https://github.com/VoltAgent/awesome-design-md</a:t>
            </a:r>
          </a:p>
          <a:p xmlns:a="http://schemas.openxmlformats.org/drawingml/2006/main">
            <a:r>
              <a:t>- https://github.com/freestylefly/awesome-gpt-image-2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这四个项目更接近 agent-native 的形态。</a:t>
            </a:r>
          </a:p>
          <a:p xmlns:a="http://schemas.openxmlformats.org/drawingml/2006/main">
            <a:r>
              <a:t>skills 和 anthropics/skills 把能力做成可安装的目录结构。superpowers 和 spec-kit 进一步保存工程方法和判断标准。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outputs/awesome-agentic-landscape-260729/data/editorial_shortlist.csv</a:t>
            </a:r>
          </a:p>
          <a:p xmlns:a="http://schemas.openxmlformats.org/drawingml/2006/main">
            <a:r>
              <a:t>- https://github.com/vercel-labs/skills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https://github.com/obra/superpowers</a:t>
            </a:r>
          </a:p>
          <a:p xmlns:a="http://schemas.openxmlformats.org/drawingml/2006/main">
            <a:r>
              <a:t>- https://github.com/github/spec-kit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9f227b2a14c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41c8e812f248bd" /><Relationship Type="http://schemas.openxmlformats.org/officeDocument/2006/relationships/slideLayout" Target="/ppt/slideLayouts/slideLayout1.xml" Id="Rd32da1cd084a4b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da1cd084a4b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b3999e3c24899" /><Relationship Type="http://schemas.openxmlformats.org/officeDocument/2006/relationships/notesSlide" Target="/ppt/notesSlides/notesSlide1.xml" Id="R3fb2b5f3ca9742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60e80e98d4bc9" /><Relationship Type="http://schemas.openxmlformats.org/officeDocument/2006/relationships/notesSlide" Target="/ppt/notesSlides/notesSlide2.xml" Id="Rbb237a20e22b43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e39a0bbd47a3" /><Relationship Type="http://schemas.openxmlformats.org/officeDocument/2006/relationships/notesSlide" Target="/ppt/notesSlides/notesSlide3.xml" Id="R0cf1cacd5bba4b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deck-title">
            <a:extLst xmlns:a="http://schemas.openxmlformats.org/drawingml/2006/main">
              <a:ext uri="{FF2B5EF4-FFF2-40B4-BE49-F238E27FC236}">
                <a16:creationId xmlns:a16="http://schemas.microsoft.com/office/drawing/2014/main" id="{C0D880BF-BE8B-48E5-8F66-B0C391AE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同样叫 awesome，用法已经分成四种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35ADFB72-AEAB-4CB0-AE6E-A4453C3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有些仍然给人浏览，有些已经提供文件、安装入口和工程方法。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4D9EA26-D859-491F-B899-7524631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4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BBB5B255-D1C2-49A3-8AFC-F29916CE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8A4D1356-8E63-48E2-BBAA-07920A49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5765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" name="stage-1-line">
            <a:extLst xmlns:a="http://schemas.openxmlformats.org/drawingml/2006/main">
              <a:ext uri="{FF2B5EF4-FFF2-40B4-BE49-F238E27FC236}">
                <a16:creationId xmlns:a16="http://schemas.microsoft.com/office/drawing/2014/main" id="{09A55E74-FE78-4E80-A570-A22828D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5765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人来读，自己挑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AF47511-9ABC-4C2E-A606-5EDC2A6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8" name="stage-1-repo-1">
            <a:extLst xmlns:a="http://schemas.openxmlformats.org/drawingml/2006/main">
              <a:ext uri="{FF2B5EF4-FFF2-40B4-BE49-F238E27FC236}">
                <a16:creationId xmlns:a16="http://schemas.microsoft.com/office/drawing/2014/main" id="{2138D3A0-4FC8-4EB5-9EEE-B4466FB4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2576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</a:t>
            </a:r>
          </a:p>
        </p:txBody>
      </p:sp>
      <p:sp>
        <p:nvSpPr>
          <p:cNvPr id="9" name="stage-1-repo-2">
            <a:extLst xmlns:a="http://schemas.openxmlformats.org/drawingml/2006/main">
              <a:ext uri="{FF2B5EF4-FFF2-40B4-BE49-F238E27FC236}">
                <a16:creationId xmlns:a16="http://schemas.microsoft.com/office/drawing/2014/main" id="{62DF3643-BF2F-472A-99F9-C85EA55A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576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awesome-mcp-servers</a:t>
            </a:r>
          </a:p>
        </p:txBody>
      </p:sp>
      <p:sp>
        <p:nvSpPr>
          <p:cNvPr id="10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87EBFA50-8B68-401F-AB45-2751A554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1952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DCAEF8A-DD13-4688-9096-21B86011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247900"/>
            <a:ext cx="25765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复用</a:t>
            </a:r>
          </a:p>
        </p:txBody>
      </p:sp>
      <p:sp>
        <p:nvSpPr>
          <p:cNvPr id="12" name="stage-2-line">
            <a:extLst xmlns:a="http://schemas.openxmlformats.org/drawingml/2006/main">
              <a:ext uri="{FF2B5EF4-FFF2-40B4-BE49-F238E27FC236}">
                <a16:creationId xmlns:a16="http://schemas.microsoft.com/office/drawing/2014/main" id="{30353F81-7B6B-49AA-9BC5-8F39807A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724150"/>
            <a:ext cx="25765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拿走一份文件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17879CD5-1872-4ECA-B0E8-4BC0CA6A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190875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14" name="stage-2-repo-1">
            <a:extLst xmlns:a="http://schemas.openxmlformats.org/drawingml/2006/main">
              <a:ext uri="{FF2B5EF4-FFF2-40B4-BE49-F238E27FC236}">
                <a16:creationId xmlns:a16="http://schemas.microsoft.com/office/drawing/2014/main" id="{E8BC4298-7488-4F11-8CE4-5C08D699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476625"/>
            <a:ext cx="2576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awesome-design-md</a:t>
            </a:r>
          </a:p>
        </p:txBody>
      </p:sp>
      <p:sp>
        <p:nvSpPr>
          <p:cNvPr id="15" name="stage-2-repo-2">
            <a:extLst xmlns:a="http://schemas.openxmlformats.org/drawingml/2006/main">
              <a:ext uri="{FF2B5EF4-FFF2-40B4-BE49-F238E27FC236}">
                <a16:creationId xmlns:a16="http://schemas.microsoft.com/office/drawing/2014/main" id="{A540827A-3B02-48FD-8807-1B7B9A0F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4171950"/>
            <a:ext cx="2576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awesome-gpt-image-2</a:t>
            </a:r>
          </a:p>
        </p:txBody>
      </p:sp>
      <p:sp>
        <p:nvSpPr>
          <p:cNvPr id="16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74FA373F-5765-4D42-8C60-5979BEEE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394383D5-3B5E-4913-820A-84A4C35A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47900"/>
            <a:ext cx="25765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安装</a:t>
            </a:r>
          </a:p>
        </p:txBody>
      </p:sp>
      <p:sp>
        <p:nvSpPr>
          <p:cNvPr id="18" name="stage-3-line">
            <a:extLst xmlns:a="http://schemas.openxmlformats.org/drawingml/2006/main">
              <a:ext uri="{FF2B5EF4-FFF2-40B4-BE49-F238E27FC236}">
                <a16:creationId xmlns:a16="http://schemas.microsoft.com/office/drawing/2014/main" id="{942B7C01-F652-406A-8991-AFCF2D2F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24150"/>
            <a:ext cx="25765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交给工具安装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93C32B8-CB8C-4C9B-A459-26C0E37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20" name="stage-3-repo-1">
            <a:extLst xmlns:a="http://schemas.openxmlformats.org/drawingml/2006/main">
              <a:ext uri="{FF2B5EF4-FFF2-40B4-BE49-F238E27FC236}">
                <a16:creationId xmlns:a16="http://schemas.microsoft.com/office/drawing/2014/main" id="{73F4ADA8-C5F4-4845-BC7E-C8B023F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76625"/>
            <a:ext cx="2576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vercel-labs/skills</a:t>
            </a:r>
          </a:p>
        </p:txBody>
      </p:sp>
      <p:sp>
        <p:nvSpPr>
          <p:cNvPr id="21" name="stage-3-repo-2">
            <a:extLst xmlns:a="http://schemas.openxmlformats.org/drawingml/2006/main">
              <a:ext uri="{FF2B5EF4-FFF2-40B4-BE49-F238E27FC236}">
                <a16:creationId xmlns:a16="http://schemas.microsoft.com/office/drawing/2014/main" id="{DD5242CD-6380-4F47-95B6-447CD9BE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71950"/>
            <a:ext cx="2576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anthropics/skills</a:t>
            </a:r>
          </a:p>
        </p:txBody>
      </p:sp>
      <p:sp>
        <p:nvSpPr>
          <p:cNvPr id="22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238EB17D-D22B-40AC-B268-C4E0B660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952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E55B2826-FE79-4FA7-839F-FAF9A366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247900"/>
            <a:ext cx="25765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工作方法</a:t>
            </a:r>
          </a:p>
        </p:txBody>
      </p:sp>
      <p:sp>
        <p:nvSpPr>
          <p:cNvPr id="24" name="stage-4-line">
            <a:extLst xmlns:a="http://schemas.openxmlformats.org/drawingml/2006/main">
              <a:ext uri="{FF2B5EF4-FFF2-40B4-BE49-F238E27FC236}">
                <a16:creationId xmlns:a16="http://schemas.microsoft.com/office/drawing/2014/main" id="{6F074CB2-8B7F-4BE6-BC61-73E9F1E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724150"/>
            <a:ext cx="25765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规定 agent 怎么做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E4903970-601A-4CCE-B052-E57B95C7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190875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26" name="stage-4-repo-1">
            <a:extLst xmlns:a="http://schemas.openxmlformats.org/drawingml/2006/main">
              <a:ext uri="{FF2B5EF4-FFF2-40B4-BE49-F238E27FC236}">
                <a16:creationId xmlns:a16="http://schemas.microsoft.com/office/drawing/2014/main" id="{86860DFE-FFA4-4671-80A7-090578F9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476625"/>
            <a:ext cx="2576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obra/superpowers</a:t>
            </a:r>
          </a:p>
        </p:txBody>
      </p:sp>
      <p:sp>
        <p:nvSpPr>
          <p:cNvPr id="27" name="stage-4-repo-2">
            <a:extLst xmlns:a="http://schemas.openxmlformats.org/drawingml/2006/main">
              <a:ext uri="{FF2B5EF4-FFF2-40B4-BE49-F238E27FC236}">
                <a16:creationId xmlns:a16="http://schemas.microsoft.com/office/drawing/2014/main" id="{E0FBCB8F-15B7-463C-AE5E-D91714A0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171950"/>
            <a:ext cx="2576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github/spec-kit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02181C5B-317F-4008-B126-393C256C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054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29" name="overview-takeaway">
            <a:extLst xmlns:a="http://schemas.openxmlformats.org/drawingml/2006/main">
              <a:ext uri="{FF2B5EF4-FFF2-40B4-BE49-F238E27FC236}">
                <a16:creationId xmlns:a16="http://schemas.microsoft.com/office/drawing/2014/main" id="{0261BBAD-1920-419F-B67A-B136EC4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越靠右，agent 可以直接使用的内容越多。</a:t>
            </a:r>
          </a:p>
        </p:txBody>
      </p:sp>
    </p:spTree>
    <p:extLst>
      <p:ext uri="{BB962C8B-B14F-4D97-AF65-F5344CB8AC3E}">
        <p14:creationId xmlns:p14="http://schemas.microsoft.com/office/powerpoint/2010/main" val="25417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4D6825-C5D3-4C49-8DFF-D568BAA5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目录还在，内容已经可以直接放进项目里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FE6C27-C483-4FAB-A393-8E2099C5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这四个项目分别交付入口、工具接口、设计规则和生图方法。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DCC59B9-A7B6-477B-B4C3-CD4AF841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4" name="project-1-name">
            <a:extLst xmlns:a="http://schemas.openxmlformats.org/drawingml/2006/main">
              <a:ext uri="{FF2B5EF4-FFF2-40B4-BE49-F238E27FC236}">
                <a16:creationId xmlns:a16="http://schemas.microsoft.com/office/drawing/2014/main" id="{BCC11333-3C13-465C-BA81-86651856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</a:t>
            </a:r>
          </a:p>
        </p:txBody>
      </p:sp>
      <p:sp>
        <p:nvSpPr>
          <p:cNvPr id="5" name="project-1-owner">
            <a:extLst xmlns:a="http://schemas.openxmlformats.org/drawingml/2006/main">
              <a:ext uri="{FF2B5EF4-FFF2-40B4-BE49-F238E27FC236}">
                <a16:creationId xmlns:a16="http://schemas.microsoft.com/office/drawing/2014/main" id="{D6706F76-9BFF-47A5-ACA4-A4B25F7D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sindresorhus</a:t>
            </a:r>
          </a:p>
        </p:txBody>
      </p:sp>
      <p:sp>
        <p:nvSpPr>
          <p:cNvPr id="6" name="project-1-tag">
            <a:extLst xmlns:a="http://schemas.openxmlformats.org/drawingml/2006/main">
              <a:ext uri="{FF2B5EF4-FFF2-40B4-BE49-F238E27FC236}">
                <a16:creationId xmlns:a16="http://schemas.microsoft.com/office/drawing/2014/main" id="{F0E7B801-C9A7-433B-9B66-0BE357B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经典元目录</a:t>
            </a:r>
          </a:p>
        </p:txBody>
      </p:sp>
      <p:sp>
        <p:nvSpPr>
          <p:cNvPr id="7" name="project-1-what">
            <a:extLst xmlns:a="http://schemas.openxmlformats.org/drawingml/2006/main">
              <a:ext uri="{FF2B5EF4-FFF2-40B4-BE49-F238E27FC236}">
                <a16:creationId xmlns:a16="http://schemas.microsoft.com/office/drawing/2014/main" id="{79FB417E-543E-4759-ABEA-DE879B7B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954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它是一份“列表的列表”。主题从命令行工具到设计资源，先帮人找到下一份清单。</a:t>
            </a:r>
          </a:p>
        </p:txBody>
      </p:sp>
      <p:sp>
        <p:nvSpPr>
          <p:cNvPr id="8" name="project-1-use">
            <a:extLst xmlns:a="http://schemas.openxmlformats.org/drawingml/2006/main">
              <a:ext uri="{FF2B5EF4-FFF2-40B4-BE49-F238E27FC236}">
                <a16:creationId xmlns:a16="http://schemas.microsoft.com/office/drawing/2014/main" id="{B99D8A35-A3B1-4F61-9A4C-72D43379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使用者自己浏览、判断，再把需要的项目摘出来。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D335C6CB-CEEE-408D-AE98-39A8EA5C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0325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10" name="project-2-name">
            <a:extLst xmlns:a="http://schemas.openxmlformats.org/drawingml/2006/main">
              <a:ext uri="{FF2B5EF4-FFF2-40B4-BE49-F238E27FC236}">
                <a16:creationId xmlns:a16="http://schemas.microsoft.com/office/drawing/2014/main" id="{4CC15EB9-ED32-4B12-AB1C-42CED264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awesome-mcp-servers</a:t>
            </a:r>
          </a:p>
        </p:txBody>
      </p:sp>
      <p:sp>
        <p:nvSpPr>
          <p:cNvPr id="11" name="project-2-owner">
            <a:extLst xmlns:a="http://schemas.openxmlformats.org/drawingml/2006/main">
              <a:ext uri="{FF2B5EF4-FFF2-40B4-BE49-F238E27FC236}">
                <a16:creationId xmlns:a16="http://schemas.microsoft.com/office/drawing/2014/main" id="{67A2DCC9-EED4-42AE-9D88-B21EF839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punkpeye</a:t>
            </a:r>
          </a:p>
        </p:txBody>
      </p:sp>
      <p:sp>
        <p:nvSpPr>
          <p:cNvPr id="12" name="project-2-tag">
            <a:extLst xmlns:a="http://schemas.openxmlformats.org/drawingml/2006/main">
              <a:ext uri="{FF2B5EF4-FFF2-40B4-BE49-F238E27FC236}">
                <a16:creationId xmlns:a16="http://schemas.microsoft.com/office/drawing/2014/main" id="{5312905E-C48B-4765-BFCE-C6825574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工具目录</a:t>
            </a:r>
          </a:p>
        </p:txBody>
      </p:sp>
      <p:sp>
        <p:nvSpPr>
          <p:cNvPr id="13" name="project-2-what">
            <a:extLst xmlns:a="http://schemas.openxmlformats.org/drawingml/2006/main">
              <a:ext uri="{FF2B5EF4-FFF2-40B4-BE49-F238E27FC236}">
                <a16:creationId xmlns:a16="http://schemas.microsoft.com/office/drawing/2014/main" id="{E5A8D84A-E797-4F62-8AFD-4C62634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它收集 MCP servers：搜索、数据库、浏览器、文件系统等可供 agent 调用的外部能力。</a:t>
            </a:r>
          </a:p>
        </p:txBody>
      </p:sp>
      <p:sp>
        <p:nvSpPr>
          <p:cNvPr id="14" name="project-2-use">
            <a:extLst xmlns:a="http://schemas.openxmlformats.org/drawingml/2006/main">
              <a:ext uri="{FF2B5EF4-FFF2-40B4-BE49-F238E27FC236}">
                <a16:creationId xmlns:a16="http://schemas.microsoft.com/office/drawing/2014/main" id="{BE83858E-D19C-4505-B416-B4CA7C0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人仍然负责挑选，但清单里的条目已经接近 agent 的工具接口。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D46BFFD-EBED-4287-9745-91EF0911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16" name="project-3-name">
            <a:extLst xmlns:a="http://schemas.openxmlformats.org/drawingml/2006/main">
              <a:ext uri="{FF2B5EF4-FFF2-40B4-BE49-F238E27FC236}">
                <a16:creationId xmlns:a16="http://schemas.microsoft.com/office/drawing/2014/main" id="{15E6BF40-91A9-46ED-B7AD-B5C16DA2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awesome-design-md</a:t>
            </a:r>
          </a:p>
        </p:txBody>
      </p:sp>
      <p:sp>
        <p:nvSpPr>
          <p:cNvPr id="17" name="project-3-owner">
            <a:extLst xmlns:a="http://schemas.openxmlformats.org/drawingml/2006/main">
              <a:ext uri="{FF2B5EF4-FFF2-40B4-BE49-F238E27FC236}">
                <a16:creationId xmlns:a16="http://schemas.microsoft.com/office/drawing/2014/main" id="{B3C21A68-2A9C-4242-838A-786171AE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VoltAgent</a:t>
            </a:r>
          </a:p>
        </p:txBody>
      </p:sp>
      <p:sp>
        <p:nvSpPr>
          <p:cNvPr id="18" name="project-3-tag">
            <a:extLst xmlns:a="http://schemas.openxmlformats.org/drawingml/2006/main">
              <a:ext uri="{FF2B5EF4-FFF2-40B4-BE49-F238E27FC236}">
                <a16:creationId xmlns:a16="http://schemas.microsoft.com/office/drawing/2014/main" id="{BAA67576-E9E3-4BA9-8C02-8AA8182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设计规则文件</a:t>
            </a:r>
          </a:p>
        </p:txBody>
      </p:sp>
      <p:sp>
        <p:nvSpPr>
          <p:cNvPr id="19" name="project-3-what">
            <a:extLst xmlns:a="http://schemas.openxmlformats.org/drawingml/2006/main">
              <a:ext uri="{FF2B5EF4-FFF2-40B4-BE49-F238E27FC236}">
                <a16:creationId xmlns:a16="http://schemas.microsoft.com/office/drawing/2014/main" id="{279395B9-46D8-4F95-91C5-2134644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290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它把品牌网站的颜色、字体、组件和禁区整理成 DESIGN.md。</a:t>
            </a:r>
          </a:p>
        </p:txBody>
      </p:sp>
      <p:sp>
        <p:nvSpPr>
          <p:cNvPr id="20" name="project-3-use">
            <a:extLst xmlns:a="http://schemas.openxmlformats.org/drawingml/2006/main">
              <a:ext uri="{FF2B5EF4-FFF2-40B4-BE49-F238E27FC236}">
                <a16:creationId xmlns:a16="http://schemas.microsoft.com/office/drawing/2014/main" id="{029450BC-B672-42EE-B2B6-3E88B67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把文件放进项目，coding agent 就能按这套设计规则生成 UI。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C9A39749-7F10-448F-855D-8EA31AD3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22" name="project-4-name">
            <a:extLst xmlns:a="http://schemas.openxmlformats.org/drawingml/2006/main">
              <a:ext uri="{FF2B5EF4-FFF2-40B4-BE49-F238E27FC236}">
                <a16:creationId xmlns:a16="http://schemas.microsoft.com/office/drawing/2014/main" id="{3F8A7355-E0A0-4C3F-9FF4-80D12125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awesome-gpt-image-2</a:t>
            </a:r>
          </a:p>
        </p:txBody>
      </p:sp>
      <p:sp>
        <p:nvSpPr>
          <p:cNvPr id="23" name="project-4-owner">
            <a:extLst xmlns:a="http://schemas.openxmlformats.org/drawingml/2006/main">
              <a:ext uri="{FF2B5EF4-FFF2-40B4-BE49-F238E27FC236}">
                <a16:creationId xmlns:a16="http://schemas.microsoft.com/office/drawing/2014/main" id="{B8EB0E19-3970-4D33-A8BF-E35D2955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freestylefly</a:t>
            </a:r>
          </a:p>
        </p:txBody>
      </p:sp>
      <p:sp>
        <p:nvSpPr>
          <p:cNvPr id="24" name="project-4-tag">
            <a:extLst xmlns:a="http://schemas.openxmlformats.org/drawingml/2006/main">
              <a:ext uri="{FF2B5EF4-FFF2-40B4-BE49-F238E27FC236}">
                <a16:creationId xmlns:a16="http://schemas.microsoft.com/office/drawing/2014/main" id="{CD6C0E06-1585-45C8-B860-371B3015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生图方法库</a:t>
            </a:r>
          </a:p>
        </p:txBody>
      </p:sp>
      <p:sp>
        <p:nvSpPr>
          <p:cNvPr id="25" name="project-4-what">
            <a:extLst xmlns:a="http://schemas.openxmlformats.org/drawingml/2006/main">
              <a:ext uri="{FF2B5EF4-FFF2-40B4-BE49-F238E27FC236}">
                <a16:creationId xmlns:a16="http://schemas.microsoft.com/office/drawing/2014/main" id="{5C89E833-049C-4235-B1EC-DA5045FF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95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它把生图案例、模板和 style library 放在一起，并把常用做法提炼成 skill。</a:t>
            </a:r>
          </a:p>
        </p:txBody>
      </p:sp>
      <p:sp>
        <p:nvSpPr>
          <p:cNvPr id="26" name="project-4-use">
            <a:extLst xmlns:a="http://schemas.openxmlformats.org/drawingml/2006/main">
              <a:ext uri="{FF2B5EF4-FFF2-40B4-BE49-F238E27FC236}">
                <a16:creationId xmlns:a16="http://schemas.microsoft.com/office/drawing/2014/main" id="{A602E6C3-E306-4A79-B4A4-EADC04BD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人可以看案例，agent 也可以直接复用模板和操作步骤。</a:t>
            </a:r>
          </a:p>
        </p:txBody>
      </p:sp>
    </p:spTree>
    <p:extLst>
      <p:ext uri="{BB962C8B-B14F-4D97-AF65-F5344CB8AC3E}">
        <p14:creationId xmlns:p14="http://schemas.microsoft.com/office/powerpoint/2010/main" val="37643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98A634-E171-4BEE-A40D-1A1412E3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更进一步，仓库开始规定 agent 怎么工作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DB0432-2561-4BB4-BCB1-826BBEBF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安装器解决“怎么拿到”，方法库解决“拿到以后怎么做”。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B82A420-FA0B-4E5A-9C48-7BDC321A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4" name="project-1-name">
            <a:extLst xmlns:a="http://schemas.openxmlformats.org/drawingml/2006/main">
              <a:ext uri="{FF2B5EF4-FFF2-40B4-BE49-F238E27FC236}">
                <a16:creationId xmlns:a16="http://schemas.microsoft.com/office/drawing/2014/main" id="{AA6D8EB3-BF60-4C04-A902-49004554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5" name="project-1-owner">
            <a:extLst xmlns:a="http://schemas.openxmlformats.org/drawingml/2006/main">
              <a:ext uri="{FF2B5EF4-FFF2-40B4-BE49-F238E27FC236}">
                <a16:creationId xmlns:a16="http://schemas.microsoft.com/office/drawing/2014/main" id="{A666212E-4E72-4EEC-B856-FD2935E5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vercel-labs</a:t>
            </a:r>
          </a:p>
        </p:txBody>
      </p:sp>
      <p:sp>
        <p:nvSpPr>
          <p:cNvPr id="6" name="project-1-tag">
            <a:extLst xmlns:a="http://schemas.openxmlformats.org/drawingml/2006/main">
              <a:ext uri="{FF2B5EF4-FFF2-40B4-BE49-F238E27FC236}">
                <a16:creationId xmlns:a16="http://schemas.microsoft.com/office/drawing/2014/main" id="{A4F7CE0E-24BE-4142-9C33-7913078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Skill 安装器</a:t>
            </a:r>
          </a:p>
        </p:txBody>
      </p:sp>
      <p:sp>
        <p:nvSpPr>
          <p:cNvPr id="7" name="project-1-what">
            <a:extLst xmlns:a="http://schemas.openxmlformats.org/drawingml/2006/main">
              <a:ext uri="{FF2B5EF4-FFF2-40B4-BE49-F238E27FC236}">
                <a16:creationId xmlns:a16="http://schemas.microsoft.com/office/drawing/2014/main" id="{9CDC4D19-3ACD-4ED7-A9B8-105132E7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954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它既是 skill 目录，也是命令行工具。npx skills 可以搜索、安装或运行 skill。</a:t>
            </a:r>
          </a:p>
        </p:txBody>
      </p:sp>
      <p:sp>
        <p:nvSpPr>
          <p:cNvPr id="8" name="project-1-use">
            <a:extLst xmlns:a="http://schemas.openxmlformats.org/drawingml/2006/main">
              <a:ext uri="{FF2B5EF4-FFF2-40B4-BE49-F238E27FC236}">
                <a16:creationId xmlns:a16="http://schemas.microsoft.com/office/drawing/2014/main" id="{1A5C510C-A79F-4D1C-897E-752E8247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清单开始有包管理器的感觉：找到以后，下一步可以交给工具完成。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AB080F3-8176-4CBE-BE87-6BBC089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0325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10" name="project-2-name">
            <a:extLst xmlns:a="http://schemas.openxmlformats.org/drawingml/2006/main">
              <a:ext uri="{FF2B5EF4-FFF2-40B4-BE49-F238E27FC236}">
                <a16:creationId xmlns:a16="http://schemas.microsoft.com/office/drawing/2014/main" id="{4784622E-9692-4DD2-A754-D8EEB0EE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11" name="project-2-owner">
            <a:extLst xmlns:a="http://schemas.openxmlformats.org/drawingml/2006/main">
              <a:ext uri="{FF2B5EF4-FFF2-40B4-BE49-F238E27FC236}">
                <a16:creationId xmlns:a16="http://schemas.microsoft.com/office/drawing/2014/main" id="{89350B51-251D-4178-BA76-260726C8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anthropics</a:t>
            </a:r>
          </a:p>
        </p:txBody>
      </p:sp>
      <p:sp>
        <p:nvSpPr>
          <p:cNvPr id="12" name="project-2-tag">
            <a:extLst xmlns:a="http://schemas.openxmlformats.org/drawingml/2006/main">
              <a:ext uri="{FF2B5EF4-FFF2-40B4-BE49-F238E27FC236}">
                <a16:creationId xmlns:a16="http://schemas.microsoft.com/office/drawing/2014/main" id="{8F7BE65C-6419-4A64-A0E0-1F847034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官方 Skill 范本</a:t>
            </a:r>
          </a:p>
        </p:txBody>
      </p:sp>
      <p:sp>
        <p:nvSpPr>
          <p:cNvPr id="13" name="project-2-what">
            <a:extLst xmlns:a="http://schemas.openxmlformats.org/drawingml/2006/main">
              <a:ext uri="{FF2B5EF4-FFF2-40B4-BE49-F238E27FC236}">
                <a16:creationId xmlns:a16="http://schemas.microsoft.com/office/drawing/2014/main" id="{D4D5CE10-8D6F-4A53-9EA0-E62A6CBD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它给出公开的 Agent Skills 样例。每项能力都是一个包含说明、脚本和资源的文件夹。</a:t>
            </a:r>
          </a:p>
        </p:txBody>
      </p:sp>
      <p:sp>
        <p:nvSpPr>
          <p:cNvPr id="14" name="project-2-use">
            <a:extLst xmlns:a="http://schemas.openxmlformats.org/drawingml/2006/main">
              <a:ext uri="{FF2B5EF4-FFF2-40B4-BE49-F238E27FC236}">
                <a16:creationId xmlns:a16="http://schemas.microsoft.com/office/drawing/2014/main" id="{AB41FFD8-7AEB-4CDB-8756-EC2A1425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这里最有价值的是文件结构：agent 知道先读什么、再执行什么。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201408F-07AD-4E0D-B863-364BFA08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16" name="project-3-name">
            <a:extLst xmlns:a="http://schemas.openxmlformats.org/drawingml/2006/main">
              <a:ext uri="{FF2B5EF4-FFF2-40B4-BE49-F238E27FC236}">
                <a16:creationId xmlns:a16="http://schemas.microsoft.com/office/drawing/2014/main" id="{E9D6475B-4BE5-4739-9F17-E21B8A71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superpowers</a:t>
            </a:r>
          </a:p>
        </p:txBody>
      </p:sp>
      <p:sp>
        <p:nvSpPr>
          <p:cNvPr id="17" name="project-3-owner">
            <a:extLst xmlns:a="http://schemas.openxmlformats.org/drawingml/2006/main">
              <a:ext uri="{FF2B5EF4-FFF2-40B4-BE49-F238E27FC236}">
                <a16:creationId xmlns:a16="http://schemas.microsoft.com/office/drawing/2014/main" id="{C9DF0D37-CAF8-428F-81B2-30025433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obra</a:t>
            </a:r>
          </a:p>
        </p:txBody>
      </p:sp>
      <p:sp>
        <p:nvSpPr>
          <p:cNvPr id="18" name="project-3-tag">
            <a:extLst xmlns:a="http://schemas.openxmlformats.org/drawingml/2006/main">
              <a:ext uri="{FF2B5EF4-FFF2-40B4-BE49-F238E27FC236}">
                <a16:creationId xmlns:a16="http://schemas.microsoft.com/office/drawing/2014/main" id="{628BE803-0317-4DB5-8A13-A6E613CC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开发方法</a:t>
            </a:r>
          </a:p>
        </p:txBody>
      </p:sp>
      <p:sp>
        <p:nvSpPr>
          <p:cNvPr id="19" name="project-3-what">
            <a:extLst xmlns:a="http://schemas.openxmlformats.org/drawingml/2006/main">
              <a:ext uri="{FF2B5EF4-FFF2-40B4-BE49-F238E27FC236}">
                <a16:creationId xmlns:a16="http://schemas.microsoft.com/office/drawing/2014/main" id="{E8B99FF9-646E-446C-B64A-D095FB9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290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它把需求澄清、写计划、TDD 和代码评审整理成会自动触发的 skills。</a:t>
            </a:r>
          </a:p>
        </p:txBody>
      </p:sp>
      <p:sp>
        <p:nvSpPr>
          <p:cNvPr id="20" name="project-3-use">
            <a:extLst xmlns:a="http://schemas.openxmlformats.org/drawingml/2006/main">
              <a:ext uri="{FF2B5EF4-FFF2-40B4-BE49-F238E27FC236}">
                <a16:creationId xmlns:a16="http://schemas.microsoft.com/office/drawing/2014/main" id="{B3656646-2D03-42F7-83C5-E19083CC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仓库交付的不是代码片段，而是一套 coding agent 的工作纪律。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01CF425F-0125-4398-BDCA-863D41C8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22" name="project-4-name">
            <a:extLst xmlns:a="http://schemas.openxmlformats.org/drawingml/2006/main">
              <a:ext uri="{FF2B5EF4-FFF2-40B4-BE49-F238E27FC236}">
                <a16:creationId xmlns:a16="http://schemas.microsoft.com/office/drawing/2014/main" id="{2FFA7D95-A537-44E3-918E-DCC7F9D5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spec-kit</a:t>
            </a:r>
          </a:p>
        </p:txBody>
      </p:sp>
      <p:sp>
        <p:nvSpPr>
          <p:cNvPr id="23" name="project-4-owner">
            <a:extLst xmlns:a="http://schemas.openxmlformats.org/drawingml/2006/main">
              <a:ext uri="{FF2B5EF4-FFF2-40B4-BE49-F238E27FC236}">
                <a16:creationId xmlns:a16="http://schemas.microsoft.com/office/drawing/2014/main" id="{10B952D5-843A-4813-BF2A-E4D63C8A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github</a:t>
            </a:r>
          </a:p>
        </p:txBody>
      </p:sp>
      <p:sp>
        <p:nvSpPr>
          <p:cNvPr id="24" name="project-4-tag">
            <a:extLst xmlns:a="http://schemas.openxmlformats.org/drawingml/2006/main">
              <a:ext uri="{FF2B5EF4-FFF2-40B4-BE49-F238E27FC236}">
                <a16:creationId xmlns:a16="http://schemas.microsoft.com/office/drawing/2014/main" id="{79538E79-85FB-4823-843E-F76C9DD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A3A"/>
                </a:solidFill>
                <a:latin typeface="PingFang SC"/>
                <a:ea typeface="PingFang SC"/>
                <a:cs typeface="PingFang SC"/>
              </a:rPr>
              <a:t>规格驱动开发</a:t>
            </a:r>
          </a:p>
        </p:txBody>
      </p:sp>
      <p:sp>
        <p:nvSpPr>
          <p:cNvPr id="25" name="project-4-what">
            <a:extLst xmlns:a="http://schemas.openxmlformats.org/drawingml/2006/main">
              <a:ext uri="{FF2B5EF4-FFF2-40B4-BE49-F238E27FC236}">
                <a16:creationId xmlns:a16="http://schemas.microsoft.com/office/drawing/2014/main" id="{D8FE0D21-CE8F-410F-9541-1E85BEE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95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它先保存规格、计划和验收条件，再让 agent 开始写代码。</a:t>
            </a:r>
          </a:p>
        </p:txBody>
      </p:sp>
      <p:sp>
        <p:nvSpPr>
          <p:cNvPr id="26" name="project-4-use">
            <a:extLst xmlns:a="http://schemas.openxmlformats.org/drawingml/2006/main">
              <a:ext uri="{FF2B5EF4-FFF2-40B4-BE49-F238E27FC236}">
                <a16:creationId xmlns:a16="http://schemas.microsoft.com/office/drawing/2014/main" id="{0A626CF9-E30B-401A-8D83-B190F4D8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9616C"/>
                </a:solidFill>
                <a:latin typeface="PingFang SC"/>
                <a:ea typeface="PingFang SC"/>
                <a:cs typeface="PingFang SC"/>
              </a:rPr>
              <a:t>代码可以快速重写，真正需要长期保留的是意图和判断标准。</a:t>
            </a:r>
          </a:p>
        </p:txBody>
      </p:sp>
    </p:spTree>
    <p:extLst>
      <p:ext uri="{BB962C8B-B14F-4D97-AF65-F5344CB8AC3E}">
        <p14:creationId xmlns:p14="http://schemas.microsoft.com/office/powerpoint/2010/main" val="2040701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2026-07-28T18:10:36.6290000Z</dcterms:created>
  <dcterms:modified xsi:type="dcterms:W3CDTF">2026-07-28T18:10:36.6290000Z</dcterms:modified>
</coreProperties>
</file>